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b28e1a6822497e" /><Relationship Type="http://schemas.openxmlformats.org/officeDocument/2006/relationships/extended-properties" Target="/docProps/app.xml" Id="Rcc45c31ea5be43f7" /><Relationship Type="http://schemas.openxmlformats.org/officeDocument/2006/relationships/officeDocument" Target="/ppt/presentation.xml" Id="R60272447aa4f48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e88a97ee834b4d"/>
  </p:sldMasterIdLst>
  <p:notesMasterIdLst>
    <p:notesMasterId xmlns:r="http://schemas.openxmlformats.org/officeDocument/2006/relationships" r:id="R54b948d8df484372"/>
  </p:notesMasterIdLst>
  <p:sldIdLst>
    <p:sldId xmlns:r="http://schemas.openxmlformats.org/officeDocument/2006/relationships" id="256" r:id="R940808737e594848"/>
    <p:sldId xmlns:r="http://schemas.openxmlformats.org/officeDocument/2006/relationships" id="257" r:id="R0826b5fac5fb4a39"/>
    <p:sldId xmlns:r="http://schemas.openxmlformats.org/officeDocument/2006/relationships" id="258" r:id="R88e72ccee1524ac4"/>
    <p:sldId xmlns:r="http://schemas.openxmlformats.org/officeDocument/2006/relationships" id="259" r:id="R593d0aa6487e4bae"/>
    <p:sldId xmlns:r="http://schemas.openxmlformats.org/officeDocument/2006/relationships" id="260" r:id="Rcf6846da2d8941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eb400cff2941c0" /><Relationship Type="http://schemas.openxmlformats.org/officeDocument/2006/relationships/slideMaster" Target="/ppt/slideMasters/slideMaster1.xml" Id="R35e88a97ee834b4d" /><Relationship Type="http://schemas.openxmlformats.org/officeDocument/2006/relationships/notesMaster" Target="/ppt/notesMasters/notesMaster1.xml" Id="R54b948d8df484372" /><Relationship Type="http://schemas.openxmlformats.org/officeDocument/2006/relationships/presProps" Target="/ppt/presProps.xml" Id="Rd0b64c55124e4071" /><Relationship Type="http://schemas.openxmlformats.org/officeDocument/2006/relationships/tableStyles" Target="/ppt/tableStyles.xml" Id="Ref995183ef5d4c05" /><Relationship Type="http://schemas.openxmlformats.org/officeDocument/2006/relationships/slide" Target="/ppt/slides/slide1.xml" Id="R940808737e594848" /><Relationship Type="http://schemas.openxmlformats.org/officeDocument/2006/relationships/slide" Target="/ppt/slides/slide2.xml" Id="R0826b5fac5fb4a39" /><Relationship Type="http://schemas.openxmlformats.org/officeDocument/2006/relationships/slide" Target="/ppt/slides/slide3.xml" Id="R88e72ccee1524ac4" /><Relationship Type="http://schemas.openxmlformats.org/officeDocument/2006/relationships/slide" Target="/ppt/slides/slide4.xml" Id="R593d0aa6487e4bae" /><Relationship Type="http://schemas.openxmlformats.org/officeDocument/2006/relationships/slide" Target="/ppt/slides/slide5.xml" Id="Rcf6846da2d8941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f40c09116540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b5247187134460" /><Relationship Type="http://schemas.openxmlformats.org/officeDocument/2006/relationships/notesMaster" Target="/ppt/notesMasters/notesMaster1.xml" Id="Rabab082829ac40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df311ae7c34c3b" /><Relationship Type="http://schemas.openxmlformats.org/officeDocument/2006/relationships/notesMaster" Target="/ppt/notesMasters/notesMaster1.xml" Id="R3462d1006e264b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feedbb4d6e48b3" /><Relationship Type="http://schemas.openxmlformats.org/officeDocument/2006/relationships/notesMaster" Target="/ppt/notesMasters/notesMaster1.xml" Id="R021bc3b0d35e4b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5dec3e1173400f" /><Relationship Type="http://schemas.openxmlformats.org/officeDocument/2006/relationships/notesMaster" Target="/ppt/notesMasters/notesMaster1.xml" Id="Rc5c8d7408e0f44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8db3076bd3418a" /><Relationship Type="http://schemas.openxmlformats.org/officeDocument/2006/relationships/notesMaster" Target="/ppt/notesMasters/notesMaster1.xml" Id="R0a8b430e34194f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 kaynakları: Capital Bikeshare System Data, 2025, https://capitalbikeshare.com/system-data ve Open-Meteo Historical Weather API, https://open-meteo.com/en/docs/historical-weather-api.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Grafik, 2025'teki 6.662.611 yolculuğun 8.760 saatlik toplamlarından hesaplandı. Kaynak: Capital Bikeshare System Data ve Open-Meteo.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Tüm değerler proje CSV'sinden hesaplandı. Sıcaklık korelasyonu 0,478 ve nem korelasyonu -0,426'dır. Bu ilişkiler nedensellik kanıtı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sonuçları: R² 0,5785, MAE 234,3, RMSE 315,2. Temel yaklaşım MAE 476,8. train_test_split test_size 0,20 ve shuffle false ile kullanıldı.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Yeni örnek tahminleri eğitilmiş modelden üretildi. Yağışlı kış gecesi için ham tahmin negatif olduğu için kullanıcı arayüzünde sıfıra kırpıldı. Bu durum modelin düşük talep uçlarında sınırlı olduğunu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59aed6fdc4e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5030f0f1547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04fefa1174c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290cf114945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21e1c67e443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45f05ead24d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9A88A9-6CE6-45EB-88E0-DFEFD42075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92B9A6-F81C-4CBB-9CB9-8DF7CC6735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6B6B05-C769-4E65-836C-CF6A63B436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057BD8-9649-451B-BCA1-9577801D70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F1CBAE-3246-4B34-9B6A-D28FCB0E55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F1DAFF-0993-4002-99F2-600D6BBE3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7EC075-D282-4DC2-B40E-53F57100A7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F6F683F-8B13-4984-9104-F262399895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51C4CE-66B7-412D-8B9B-8D6188A76C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D6BE84-236A-461E-97F3-87BFB9F5B8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34901776b84a21" /><Relationship Type="http://schemas.openxmlformats.org/officeDocument/2006/relationships/slideLayout" Target="/ppt/slideLayouts/slideLayout1.xml" Id="Rd2b46864205d4e1f" /><Relationship Type="http://schemas.openxmlformats.org/officeDocument/2006/relationships/slideLayout" Target="/ppt/slideLayouts/slideLayout2.xml" Id="R980289980bf04ac3" /><Relationship Type="http://schemas.openxmlformats.org/officeDocument/2006/relationships/slideLayout" Target="/ppt/slideLayouts/slideLayout3.xml" Id="Rd1789a800de14ef5" /><Relationship Type="http://schemas.openxmlformats.org/officeDocument/2006/relationships/slideLayout" Target="/ppt/slideLayouts/slideLayout4.xml" Id="R3db6ef31eb124f07" /><Relationship Type="http://schemas.openxmlformats.org/officeDocument/2006/relationships/slideLayout" Target="/ppt/slideLayouts/slideLayout5.xml" Id="R82cc99890ede4e8a" /><Relationship Type="http://schemas.openxmlformats.org/officeDocument/2006/relationships/slideLayout" Target="/ppt/slideLayouts/slideLayout6.xml" Id="Rcb78aacaa43542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b46864205d4e1f"/>
    <p:sldLayoutId xmlns:r="http://schemas.openxmlformats.org/officeDocument/2006/relationships" id="2147483650" r:id="R980289980bf04ac3"/>
    <p:sldLayoutId xmlns:r="http://schemas.openxmlformats.org/officeDocument/2006/relationships" id="2147483651" r:id="Rd1789a800de14ef5"/>
    <p:sldLayoutId xmlns:r="http://schemas.openxmlformats.org/officeDocument/2006/relationships" id="2147483652" r:id="R3db6ef31eb124f07"/>
    <p:sldLayoutId xmlns:r="http://schemas.openxmlformats.org/officeDocument/2006/relationships" id="2147483653" r:id="R82cc99890ede4e8a"/>
    <p:sldLayoutId xmlns:r="http://schemas.openxmlformats.org/officeDocument/2006/relationships" id="2147483654" r:id="Rcb78aacaa43542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957e303c54f89" /><Relationship Type="http://schemas.openxmlformats.org/officeDocument/2006/relationships/notesSlide" Target="/ppt/notesSlides/notesSlide1.xml" Id="Reda75dd9de3b4c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c7fbe8e6a249e8" /><Relationship Type="http://schemas.openxmlformats.org/officeDocument/2006/relationships/chart" Target="/ppt/slides/charts/chart1.xml" Id="R33c02fc8e6a94fbb" /><Relationship Type="http://schemas.openxmlformats.org/officeDocument/2006/relationships/notesSlide" Target="/ppt/notesSlides/notesSlide2.xml" Id="Rfb614f17656244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11708169fc4e46" /><Relationship Type="http://schemas.openxmlformats.org/officeDocument/2006/relationships/chart" Target="/ppt/slides/charts/chart2.xml" Id="Rf29ea9199e354572" /><Relationship Type="http://schemas.openxmlformats.org/officeDocument/2006/relationships/notesSlide" Target="/ppt/notesSlides/notesSlide3.xml" Id="Ra90d994668e74d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93423ff11e4183" /><Relationship Type="http://schemas.openxmlformats.org/officeDocument/2006/relationships/chart" Target="/ppt/slides/charts/chart3.xml" Id="Rb1b9dc53080740e2" /><Relationship Type="http://schemas.openxmlformats.org/officeDocument/2006/relationships/notesSlide" Target="/ppt/notesSlides/notesSlide4.xml" Id="Rbb3244e429284c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7669e16684663" /><Relationship Type="http://schemas.openxmlformats.org/officeDocument/2006/relationships/notesSlide" Target="/ppt/notesSlides/notesSlide5.xml" Id="R7070ccbcf14e423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Saatlere göre ortalama talep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8232D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Ortalama kiralama</c:v>
          </c:tx>
          <c:spPr>
            <a:solidFill xmlns:a="http://schemas.openxmlformats.org/drawingml/2006/main">
              <a:srgbClr val="2A6F97"/>
            </a:solidFill>
            <a:ln xmlns:a="http://schemas.openxmlformats.org/drawingml/2006/main" w="28575">
              <a:solidFill>
                <a:srgbClr val="2A6F97"/>
              </a:solidFill>
            </a:ln>
          </c:spPr>
          <c:marker>
            <c:symbol val="none"/>
          </c:marker>
          <c:cat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Data'!$B$2:$B$25</c:f>
              <c:numCache>
                <c:formatCode>0</c:formatCode>
                <c:ptCount val="24"/>
                <c:pt idx="0">
                  <c:v>218.1</c:v>
                </c:pt>
                <c:pt idx="1">
                  <c:v>127.4</c:v>
                </c:pt>
                <c:pt idx="2">
                  <c:v>77.9</c:v>
                </c:pt>
                <c:pt idx="3">
                  <c:v>43.4</c:v>
                </c:pt>
                <c:pt idx="4">
                  <c:v>44.7</c:v>
                </c:pt>
                <c:pt idx="5">
                  <c:v>123.6</c:v>
                </c:pt>
                <c:pt idx="6">
                  <c:v>316.9</c:v>
                </c:pt>
                <c:pt idx="7">
                  <c:v>690.4</c:v>
                </c:pt>
                <c:pt idx="8">
                  <c:v>1135.2</c:v>
                </c:pt>
                <c:pt idx="9">
                  <c:v>847.6</c:v>
                </c:pt>
                <c:pt idx="10">
                  <c:v>742.6</c:v>
                </c:pt>
                <c:pt idx="11">
                  <c:v>842.9</c:v>
                </c:pt>
                <c:pt idx="12">
                  <c:v>983.8</c:v>
                </c:pt>
                <c:pt idx="13">
                  <c:v>1024.6</c:v>
                </c:pt>
                <c:pt idx="14">
                  <c:v>1091.8</c:v>
                </c:pt>
                <c:pt idx="15">
                  <c:v>1334.8</c:v>
                </c:pt>
                <c:pt idx="16">
                  <c:v>1494.7</c:v>
                </c:pt>
                <c:pt idx="17">
                  <c:v>1809.8</c:v>
                </c:pt>
                <c:pt idx="18">
                  <c:v>1570.5</c:v>
                </c:pt>
                <c:pt idx="19">
                  <c:v>1197.7</c:v>
                </c:pt>
                <c:pt idx="20">
                  <c:v>893.9</c:v>
                </c:pt>
                <c:pt idx="21">
                  <c:v>711.4</c:v>
                </c:pt>
                <c:pt idx="22">
                  <c:v>553.9</c:v>
                </c:pt>
                <c:pt idx="23">
                  <c:v>376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777"/>
                    </a:solidFill>
                    <a:latin typeface="Helvetica Neue"/>
                    <a:ea typeface="Helvetica Neue"/>
                    <a:cs typeface="Helvetica Neue"/>
                  </a:rPr>
                  <a:t>Saat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777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777"/>
                    </a:solidFill>
                    <a:latin typeface="Helvetica Neue"/>
                    <a:ea typeface="Helvetica Neue"/>
                    <a:cs typeface="Helvetica Neue"/>
                  </a:rPr>
                  <a:t>Ortalama kiralama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777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Hava durumuna göre ortalama talep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8232D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Ortalama kiralama</c:v>
          </c:tx>
          <c:spPr>
            <a:solidFill xmlns:a="http://schemas.openxmlformats.org/drawingml/2006/main">
              <a:srgbClr val="2A6F9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A6F9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1A5C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2C14E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Açık</c:v>
                </c:pt>
                <c:pt idx="1">
                  <c:v>Kapalı veya sisli</c:v>
                </c:pt>
                <c:pt idx="2">
                  <c:v>Yağışlı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771.6</c:v>
                </c:pt>
                <c:pt idx="1">
                  <c:v>758</c:v>
                </c:pt>
                <c:pt idx="2">
                  <c:v>728.7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8232D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777"/>
                    </a:solidFill>
                    <a:latin typeface="Helvetica Neue"/>
                    <a:ea typeface="Helvetica Neue"/>
                    <a:cs typeface="Helvetica Neue"/>
                  </a:rPr>
                  <a:t>Hava durumu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777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8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777"/>
                    </a:solidFill>
                    <a:latin typeface="Helvetica Neue"/>
                    <a:ea typeface="Helvetica Neue"/>
                    <a:cs typeface="Helvetica Neue"/>
                  </a:rPr>
                  <a:t>Ortalama kiralama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777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Ortalama mutlak hata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8232D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2A6F9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A6F9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AB8C4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Doğrusal model</c:v>
                </c:pt>
                <c:pt idx="1">
                  <c:v>Temel yaklaşım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234.3</c:v>
                </c:pt>
                <c:pt idx="1">
                  <c:v>476.8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8232D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5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6777"/>
                    </a:solidFill>
                    <a:latin typeface="Helvetica Neue"/>
                    <a:ea typeface="Helvetica Neue"/>
                    <a:cs typeface="Helvetica Neue"/>
                  </a:rPr>
                  <a:t>Kiralama sayısı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6777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BD146-DDBA-4C3E-A362-22E2668D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Şehrin Nabzı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44E6C-DC31-4DED-9145-58CB567D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EAF3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EAF3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EAF3F7"/>
                </a:solidFill>
                <a:latin typeface="Helvetica Neue"/>
                <a:ea typeface="Helvetica Neue"/>
                <a:cs typeface="Helvetica Neue"/>
              </a:rPr>
              <a:t>Saatlik bisiklet paylaşım talebi tahmini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36DA1-1F0A-4213-A726-1CCD87B0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Basitleştirilmiş Python Eğitimi Final Projesi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C57C8-369F-4B8F-BA8B-3805C7CC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828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AF3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AF3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AF3F7"/>
                </a:solidFill>
                <a:latin typeface="Helvetica Neue"/>
                <a:ea typeface="Helvetica Neue"/>
                <a:cs typeface="Helvetica Neue"/>
              </a:rPr>
              <a:t>6.662.611 yolculuk</a:t>
            </a:r>
          </a:p>
          <a:p xmlns:a="http://schemas.openxmlformats.org/drawingml/2006/main">
            <a:pPr algn="l">
              <a:defRPr sz="1425" b="0">
                <a:solidFill>
                  <a:srgbClr val="EAF3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AF3F7"/>
                </a:solidFill>
                <a:latin typeface="Helvetica Neue"/>
                <a:ea typeface="Helvetica Neue"/>
                <a:cs typeface="Helvetica Neue"/>
              </a:rPr>
              <a:t>2025'in 8.760 saati</a:t>
            </a:r>
          </a:p>
          <a:p xmlns:a="http://schemas.openxmlformats.org/drawingml/2006/main">
            <a:pPr algn="l">
              <a:defRPr sz="1425" b="0">
                <a:solidFill>
                  <a:srgbClr val="EAF3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AF3F7"/>
                </a:solidFill>
                <a:latin typeface="Helvetica Neue"/>
                <a:ea typeface="Helvetica Neue"/>
                <a:cs typeface="Helvetica Neue"/>
              </a:rPr>
              <a:t>Zaman sıralı test</a:t>
            </a:r>
          </a:p>
        </p:txBody>
      </p:sp>
    </p:spTree>
    <p:extLst>
      <p:ext uri="{BB962C8B-B14F-4D97-AF65-F5344CB8AC3E}">
        <p14:creationId xmlns:p14="http://schemas.microsoft.com/office/powerpoint/2010/main" val="1331434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A9073-CC4C-4E83-AE83-96F85459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Problem ve veri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E4579-AB83-4AA1-80BF-9D1E6906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rPr>
              <a:t>Tahmin sorusu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F7151-129E-486F-858C-4371E5DA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35"/>
          </a:bodyPr>
          <a:lstStyle xmlns:a="http://schemas.openxmlformats.org/drawingml/2006/main">
            <a:defPPr algn="l">
              <a:defRPr sz="202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Takvim ve hava koşulları kullanılarak Washington D.C. bisiklet paylaşım sisteminin saatlik yolculuk sayısı tahmin edilebilir 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AF9EC-1909-4DA5-BA68-2053BB70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rPr>
              <a:t>Veri kapsamı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69D26-82D6-4633-A56A-98AE1929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3429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Capital Bikeshare</a:t>
            </a:r>
          </a:p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6.662.611 yolculuk</a:t>
            </a:r>
          </a:p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8.760 saat</a:t>
            </a:r>
          </a:p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Ocak-Aralık 2025</a:t>
            </a:r>
          </a:p>
          <a:p xmlns:a="http://schemas.openxmlformats.org/drawingml/2006/main">
            <a:pPr algn="l">
              <a:defRPr sz="165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Eksik değer yok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6C0AE69-F6BC-49FB-8630-5EE854D267E7}"/>
              </a:ext>
            </a:extLst>
          </p:cNvPr>
          <p:cNvGraphicFramePr/>
          <p:nvPr/>
        </p:nvGraphicFramePr>
        <p:xfrm>
          <a:off xmlns:a="http://schemas.openxmlformats.org/drawingml/2006/main" x="4762500" y="1409700"/>
          <a:ext xmlns:a="http://schemas.openxmlformats.org/drawingml/2006/main" cx="6572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c02fc8e6a94fb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6914B-62EC-454E-B152-598571FE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Kaynak  Capital Bikeshare System Data ve Open-Meteo  2025</a:t>
            </a:r>
          </a:p>
        </p:txBody>
      </p:sp>
    </p:spTree>
    <p:extLst>
      <p:ext uri="{BB962C8B-B14F-4D97-AF65-F5344CB8AC3E}">
        <p14:creationId xmlns:p14="http://schemas.microsoft.com/office/powerpoint/2010/main" val="1325574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5AE7C-8695-434D-8DB3-100ADE77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Keşif bulguları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8A49E5AA-FE16-427C-A3D8-06F974F31B8C}"/>
              </a:ext>
            </a:extLst>
          </p:cNvPr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5810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9ea9199e35457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EBEBF-6383-40DA-89E7-8B869BC1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38300"/>
            <a:ext cx="4238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Talep saat 17.00'de ortalama 1.810 yolculukla zirveye çıkıyor.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03E95-59EB-4B80-8BD2-0D748CF0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52700"/>
            <a:ext cx="4238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Haziran ayı saatlik ortalaması 960 ile yılın en yüksek düzeyinde.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1C0DC-C1AA-4EC8-A38A-C96B0F0B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4238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Sıcaklık ile talep arasında 0,478 düzeyinde pozitif ilişki var.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0376E-A37E-4099-AA2F-298421CD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81500"/>
            <a:ext cx="4238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Nem ile talep arasındaki ilişki -0,426.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D1116-3976-44A8-9C18-C5D799AF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İlişkiler nedensellik kanıtı değildir</a:t>
            </a:r>
          </a:p>
        </p:txBody>
      </p:sp>
    </p:spTree>
    <p:extLst>
      <p:ext uri="{BB962C8B-B14F-4D97-AF65-F5344CB8AC3E}">
        <p14:creationId xmlns:p14="http://schemas.microsoft.com/office/powerpoint/2010/main" val="5260004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F882F-E36F-4351-B974-4CE7619C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Model ve sonuçlar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4F168C20-B7FF-4AE1-B920-1961E584E1C5}"/>
              </a:ext>
            </a:extLst>
          </p:cNvPr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5810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b9dc53080740e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34C7F-CBC7-473F-A387-D0622C6A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rPr>
              <a:t>0,578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48F6F-F2FC-4B7D-8FAC-CC9AA174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33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>
            <a:defPPr algn="l">
              <a:defRPr sz="1425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Test R²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D4B1-C7D4-4B8F-B995-2829A7EE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rPr>
              <a:t>315,2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3A04A-B895-4606-BD10-D3DBDD51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33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>
            <a:defPPr algn="l">
              <a:defRPr sz="1425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Test RMSE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52114-6120-4DB7-8E5D-FDE8CCDD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>
            <a:defPPr algn="l">
              <a:defRPr sz="1875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rPr>
              <a:t>Model akışı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49F9E-6875-45BA-9C7D-35E49AB7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Kategorik alanlar one hot encoding ile dönüştürüldü. Linear Regression ilk 7.008 saatle eğitildi ve son 1.752 saatle test edildi. Temel yaklaşıma göre MAE yüzde 50,9 azaldı.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C2C6A-9A6F-45BB-AACC-60E4CF83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Temel yaklaşım yalnızca eğitim ortalamasını tahmin eder</a:t>
            </a:r>
          </a:p>
        </p:txBody>
      </p:sp>
    </p:spTree>
    <p:extLst>
      <p:ext uri="{BB962C8B-B14F-4D97-AF65-F5344CB8AC3E}">
        <p14:creationId xmlns:p14="http://schemas.microsoft.com/office/powerpoint/2010/main" val="19444380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B442E-83F7-42FD-8620-1C025D74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Tahmin örnekleri ve sınırlar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326B7-60CA-4538-BD74-4B8E140A3EF0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5810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1714500"/>
              </a:tblGrid>
              <a:tr h="785813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Senaryo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Tahmin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425">
                          <a:solidFill>
                            <a:srgbClr val="182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Serin iş günü sabahı</a:t>
                      </a:r>
                    </a:p>
                  </a:txBody>
                  <a:tcPr marL="91440" marR="91440" marT="45720" marB="4572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1.413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425">
                          <a:solidFill>
                            <a:srgbClr val="182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Sıcak hafta sonu öğleden sonrası</a:t>
                      </a:r>
                    </a:p>
                  </a:txBody>
                  <a:tcPr marL="91440" marR="91440" marT="45720" marB="4572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1.858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/>
                      <a:r>
                        <a:rPr sz="1425">
                          <a:solidFill>
                            <a:srgbClr val="182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Yağışlı kış gecesi</a:t>
                      </a:r>
                    </a:p>
                  </a:txBody>
                  <a:tcPr marL="91440" marR="91440" marT="45720" marB="4572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07D20-F00B-4939-92EF-E4014A3F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049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>
            <a:defPPr algn="l">
              <a:defRPr sz="1950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A6F97"/>
                </a:solidFill>
                <a:latin typeface="Helvetica Neue"/>
                <a:ea typeface="Helvetica Neue"/>
                <a:cs typeface="Helvetica Neue"/>
              </a:rPr>
              <a:t>Model sınırları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19AC0-EDAF-48E5-93DE-FC538FF5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57400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İstasyon konumu ve kapasitesi bilinmiyor.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4C77D-E590-4AF0-A7C7-7102ABE9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Özel etkinlik ve ulaşım kesintisi verisi yok.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309BB-7963-4A4E-849F-3E12C317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05200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Veri tek şehir sistemi ve 2025 dönemiyle sınırlı.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B5B52-C27B-4FDD-8F68-CF32BB2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29100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Negatif ham tahminler mini uygulamada sıfıra kırpılıyor.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11C8A-41F7-457D-9532-6EB3AC16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52"/>
          </a:bodyPr>
          <a:lstStyle xmlns:a="http://schemas.openxmlformats.org/drawingml/2006/main">
            <a:defPPr algn="l">
              <a:defRPr sz="1800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232D"/>
                </a:solidFill>
                <a:latin typeface="Helvetica Neue"/>
                <a:ea typeface="Helvetica Neue"/>
                <a:cs typeface="Helvetica Neue"/>
              </a:rPr>
              <a:t>Sonuç: Model talep planlaması için başlangıç sinyali veriyor. Farklı şehirlerde yeniden ölçülmeli.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1AC98-356A-484B-8DE9-EE7FEDF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Mini uygulama tahmin_et işleviyle kullanıcı girdisinden sonuç üretir</a:t>
            </a:r>
          </a:p>
        </p:txBody>
      </p:sp>
    </p:spTree>
    <p:extLst>
      <p:ext uri="{BB962C8B-B14F-4D97-AF65-F5344CB8AC3E}">
        <p14:creationId xmlns:p14="http://schemas.microsoft.com/office/powerpoint/2010/main" val="1832918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2026-10-15T13:19:03.5260000Z</dcterms:created>
  <dcterms:modified xsi:type="dcterms:W3CDTF">2026-10-15T13:19:03.5260000Z</dcterms:modified>
</coreProperties>
</file>
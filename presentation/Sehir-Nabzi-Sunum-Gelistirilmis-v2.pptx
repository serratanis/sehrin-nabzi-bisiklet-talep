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9ca160b098482b" /><Relationship Type="http://schemas.openxmlformats.org/officeDocument/2006/relationships/extended-properties" Target="/docProps/app.xml" Id="R7974d6b546144fda" /><Relationship Type="http://schemas.openxmlformats.org/officeDocument/2006/relationships/officeDocument" Target="/ppt/presentation.xml" Id="Rda839f0e5dd44a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57041ea8c142e0"/>
  </p:sldMasterIdLst>
  <p:notesMasterIdLst>
    <p:notesMasterId xmlns:r="http://schemas.openxmlformats.org/officeDocument/2006/relationships" r:id="R1f7e6ef268544b71"/>
  </p:notesMasterIdLst>
  <p:sldIdLst>
    <p:sldId xmlns:r="http://schemas.openxmlformats.org/officeDocument/2006/relationships" id="256" r:id="Rbd6cc121396e42bd"/>
    <p:sldId xmlns:r="http://schemas.openxmlformats.org/officeDocument/2006/relationships" id="257" r:id="R040189b9f8f04730"/>
    <p:sldId xmlns:r="http://schemas.openxmlformats.org/officeDocument/2006/relationships" id="258" r:id="R186214bfe2a14346"/>
    <p:sldId xmlns:r="http://schemas.openxmlformats.org/officeDocument/2006/relationships" id="259" r:id="R05f55ea65e214e3e"/>
    <p:sldId xmlns:r="http://schemas.openxmlformats.org/officeDocument/2006/relationships" id="260" r:id="R6c85aa44337f45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b601ffcd584fda" /><Relationship Type="http://schemas.openxmlformats.org/officeDocument/2006/relationships/slideMaster" Target="/ppt/slideMasters/slideMaster1.xml" Id="Rf257041ea8c142e0" /><Relationship Type="http://schemas.openxmlformats.org/officeDocument/2006/relationships/notesMaster" Target="/ppt/notesMasters/notesMaster1.xml" Id="R1f7e6ef268544b71" /><Relationship Type="http://schemas.openxmlformats.org/officeDocument/2006/relationships/presProps" Target="/ppt/presProps.xml" Id="Ra228d5d58be74f15" /><Relationship Type="http://schemas.openxmlformats.org/officeDocument/2006/relationships/tableStyles" Target="/ppt/tableStyles.xml" Id="R6c05b03dc0484cf0" /><Relationship Type="http://schemas.openxmlformats.org/officeDocument/2006/relationships/slide" Target="/ppt/slides/slide1.xml" Id="Rbd6cc121396e42bd" /><Relationship Type="http://schemas.openxmlformats.org/officeDocument/2006/relationships/slide" Target="/ppt/slides/slide2.xml" Id="R040189b9f8f04730" /><Relationship Type="http://schemas.openxmlformats.org/officeDocument/2006/relationships/slide" Target="/ppt/slides/slide3.xml" Id="R186214bfe2a14346" /><Relationship Type="http://schemas.openxmlformats.org/officeDocument/2006/relationships/slide" Target="/ppt/slides/slide4.xml" Id="R05f55ea65e214e3e" /><Relationship Type="http://schemas.openxmlformats.org/officeDocument/2006/relationships/slide" Target="/ppt/slides/slide5.xml" Id="R6c85aa44337f45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690130f2cf46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e8322db2584e7f" /><Relationship Type="http://schemas.openxmlformats.org/officeDocument/2006/relationships/notesMaster" Target="/ppt/notesMasters/notesMaster1.xml" Id="Rf49c9f80063a47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a94a030e4e4ef5" /><Relationship Type="http://schemas.openxmlformats.org/officeDocument/2006/relationships/notesMaster" Target="/ppt/notesMasters/notesMaster1.xml" Id="R4d5fcb823f614e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c3b2baad904c35" /><Relationship Type="http://schemas.openxmlformats.org/officeDocument/2006/relationships/notesMaster" Target="/ppt/notesMasters/notesMaster1.xml" Id="R448445ab81ed4b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4444839635474c" /><Relationship Type="http://schemas.openxmlformats.org/officeDocument/2006/relationships/notesMaster" Target="/ppt/notesMasters/notesMaster1.xml" Id="R8684c8713e3c46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4251ac00cb4a43" /><Relationship Type="http://schemas.openxmlformats.org/officeDocument/2006/relationships/notesMaster" Target="/ppt/notesMasters/notesMaster1.xml" Id="R5ecf16a094dd4a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 kaynakları: Capital Bikeshare System Data, 2025, https://capitalbikeshare.com/system-data ve Open-Meteo Historical Weather API, https://open-meteo.com/en/docs/historical-weather-api. Kapak görseli yapay zeka ile dekoratif amaçla üretilmiştir.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Grafik, 2025'teki 6.662.611 yolculuğun 8.760 saatlik toplamlarından hesaplandı. Kaynak: Capital Bikeshare System Data ve Open-Meteo.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Tüm değerler proje CSV'sinden hesaplandı. Sıcaklık korelasyonu 0,478 ve nem korelasyonu -0,426'dır. Bu ilişkiler nedensellik kanıtı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 sonuçları: R² 0,5785, MAE 234,3, RMSE 315,2. Temel yaklaşım MAE 476,8. train_test_split test_size 0,20 ve shuffle false ile kullanıldı.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Yeni örnek tahminleri eğitilmiş modelden üretildi. Yağışlı kış gecesi için ham tahmin negatif olduğu için kullanıcı arayüzünde sıfıra kırpıldı. Bu durum modelin düşük talep uçlarında sınırlı olduğunu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1a6b7c4c0849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234012c8f24e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c8f34b102c44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0c7c53145248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d7f7e6500247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49bce49bd844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94B770-A663-456F-84F7-2FF6768DDA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91869FE-4E4F-43D2-90F2-85DADA54C6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A57D2CD-4F01-422F-8F8B-D2087A4A22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D3AE93-00EB-4BA3-AE75-EDA8AF77CC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836BE68-7121-4577-8CE4-F23EF4BF34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733411D-9720-48B6-9291-AB80122C66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A5EB1E-DC95-47B0-BB07-3D290FDBDA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F502874-8F53-413E-8688-AD2AE3C115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31F3A1-51BE-46CB-8CE9-9459AE401F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8420FA-6DCA-4FD8-9F41-AA67C50908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6ad0d5f7ca4e81" /><Relationship Type="http://schemas.openxmlformats.org/officeDocument/2006/relationships/slideLayout" Target="/ppt/slideLayouts/slideLayout1.xml" Id="R0f56f6d1c147450d" /><Relationship Type="http://schemas.openxmlformats.org/officeDocument/2006/relationships/slideLayout" Target="/ppt/slideLayouts/slideLayout2.xml" Id="R853224e3418f48b4" /><Relationship Type="http://schemas.openxmlformats.org/officeDocument/2006/relationships/slideLayout" Target="/ppt/slideLayouts/slideLayout3.xml" Id="R316cdaae0ed94c9b" /><Relationship Type="http://schemas.openxmlformats.org/officeDocument/2006/relationships/slideLayout" Target="/ppt/slideLayouts/slideLayout4.xml" Id="Ra8e24343353b4c0a" /><Relationship Type="http://schemas.openxmlformats.org/officeDocument/2006/relationships/slideLayout" Target="/ppt/slideLayouts/slideLayout5.xml" Id="R07a38b411f9c4c4a" /><Relationship Type="http://schemas.openxmlformats.org/officeDocument/2006/relationships/slideLayout" Target="/ppt/slideLayouts/slideLayout6.xml" Id="R672868e3b8d941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56f6d1c147450d"/>
    <p:sldLayoutId xmlns:r="http://schemas.openxmlformats.org/officeDocument/2006/relationships" id="2147483650" r:id="R853224e3418f48b4"/>
    <p:sldLayoutId xmlns:r="http://schemas.openxmlformats.org/officeDocument/2006/relationships" id="2147483651" r:id="R316cdaae0ed94c9b"/>
    <p:sldLayoutId xmlns:r="http://schemas.openxmlformats.org/officeDocument/2006/relationships" id="2147483652" r:id="Ra8e24343353b4c0a"/>
    <p:sldLayoutId xmlns:r="http://schemas.openxmlformats.org/officeDocument/2006/relationships" id="2147483653" r:id="R07a38b411f9c4c4a"/>
    <p:sldLayoutId xmlns:r="http://schemas.openxmlformats.org/officeDocument/2006/relationships" id="2147483654" r:id="R672868e3b8d941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a7902e302e4670" /><Relationship Type="http://schemas.openxmlformats.org/officeDocument/2006/relationships/image" Target="/ppt/media/image.png" Id="Rdacfb9e8054144e6" /><Relationship Type="http://schemas.openxmlformats.org/officeDocument/2006/relationships/notesSlide" Target="/ppt/notesSlides/notesSlide1.xml" Id="Rcd9c0d81c5334a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b51ce2bedc4fca" /><Relationship Type="http://schemas.openxmlformats.org/officeDocument/2006/relationships/chart" Target="/ppt/slides/charts/chart1.xml" Id="Re1c9d4c33add4318" /><Relationship Type="http://schemas.openxmlformats.org/officeDocument/2006/relationships/notesSlide" Target="/ppt/notesSlides/notesSlide2.xml" Id="R1c04f322fd8244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0f0db0cbdd4a3a" /><Relationship Type="http://schemas.openxmlformats.org/officeDocument/2006/relationships/chart" Target="/ppt/slides/charts/chart2.xml" Id="Rd3e6f0d4a19a49ce" /><Relationship Type="http://schemas.openxmlformats.org/officeDocument/2006/relationships/notesSlide" Target="/ppt/notesSlides/notesSlide3.xml" Id="R44b5be94143d42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8f4f47e3ab415b" /><Relationship Type="http://schemas.openxmlformats.org/officeDocument/2006/relationships/chart" Target="/ppt/slides/charts/chart3.xml" Id="Rc4abc7c36d714a91" /><Relationship Type="http://schemas.openxmlformats.org/officeDocument/2006/relationships/notesSlide" Target="/ppt/notesSlides/notesSlide4.xml" Id="R3901895f993f41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fdf82dcd23401d" /><Relationship Type="http://schemas.openxmlformats.org/officeDocument/2006/relationships/notesSlide" Target="/ppt/notesSlides/notesSlide5.xml" Id="R746d8bc63eee4e5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rPr>
              <a:t>Saatlere göre ortalama talep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102431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Ortalama kiralama</c:v>
          </c:tx>
          <c:spPr>
            <a:solidFill xmlns:a="http://schemas.openxmlformats.org/drawingml/2006/main">
              <a:srgbClr val="0E7C86"/>
            </a:solidFill>
            <a:ln xmlns:a="http://schemas.openxmlformats.org/drawingml/2006/main" w="38100">
              <a:solidFill>
                <a:srgbClr val="0E7C86"/>
              </a:solidFill>
            </a:ln>
          </c:spPr>
          <c:marker>
            <c:symbol val="none"/>
          </c:marker>
          <c:cat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'Chart Data'!$B$2:$B$25</c:f>
              <c:numCache>
                <c:formatCode>0</c:formatCode>
                <c:ptCount val="24"/>
                <c:pt idx="0">
                  <c:v>218.1</c:v>
                </c:pt>
                <c:pt idx="1">
                  <c:v>127.4</c:v>
                </c:pt>
                <c:pt idx="2">
                  <c:v>77.9</c:v>
                </c:pt>
                <c:pt idx="3">
                  <c:v>43.4</c:v>
                </c:pt>
                <c:pt idx="4">
                  <c:v>44.7</c:v>
                </c:pt>
                <c:pt idx="5">
                  <c:v>123.6</c:v>
                </c:pt>
                <c:pt idx="6">
                  <c:v>316.9</c:v>
                </c:pt>
                <c:pt idx="7">
                  <c:v>690.4</c:v>
                </c:pt>
                <c:pt idx="8">
                  <c:v>1135.2</c:v>
                </c:pt>
                <c:pt idx="9">
                  <c:v>847.6</c:v>
                </c:pt>
                <c:pt idx="10">
                  <c:v>742.6</c:v>
                </c:pt>
                <c:pt idx="11">
                  <c:v>842.9</c:v>
                </c:pt>
                <c:pt idx="12">
                  <c:v>983.8</c:v>
                </c:pt>
                <c:pt idx="13">
                  <c:v>1024.6</c:v>
                </c:pt>
                <c:pt idx="14">
                  <c:v>1091.8</c:v>
                </c:pt>
                <c:pt idx="15">
                  <c:v>1334.8</c:v>
                </c:pt>
                <c:pt idx="16">
                  <c:v>1494.7</c:v>
                </c:pt>
                <c:pt idx="17">
                  <c:v>1809.8</c:v>
                </c:pt>
                <c:pt idx="18">
                  <c:v>1570.5</c:v>
                </c:pt>
                <c:pt idx="19">
                  <c:v>1197.7</c:v>
                </c:pt>
                <c:pt idx="20">
                  <c:v>893.9</c:v>
                </c:pt>
                <c:pt idx="21">
                  <c:v>711.4</c:v>
                </c:pt>
                <c:pt idx="22">
                  <c:v>553.9</c:v>
                </c:pt>
                <c:pt idx="23">
                  <c:v>376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36B78"/>
                    </a:solidFill>
                    <a:latin typeface="Helvetica Neue"/>
                    <a:ea typeface="Helvetica Neue"/>
                    <a:cs typeface="Helvetica Neue"/>
                  </a:rPr>
                  <a:t>Saat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36B78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8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8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36B78"/>
                    </a:solidFill>
                    <a:latin typeface="Helvetica Neue"/>
                    <a:ea typeface="Helvetica Neue"/>
                    <a:cs typeface="Helvetica Neue"/>
                  </a:rPr>
                  <a:t>Ortalama kiralama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36B78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500"/>
      </c:valAx>
      <c:spPr>
        <a:solidFill xmlns:a="http://schemas.openxmlformats.org/drawingml/2006/main">
          <a:srgbClr val="F7F4E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4E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rPr>
              <a:t>Hava durumuna göre ortalama talep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102431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Ortalama kiralama</c:v>
          </c:tx>
          <c:spPr>
            <a:solidFill xmlns:a="http://schemas.openxmlformats.org/drawingml/2006/main">
              <a:srgbClr val="0E7C86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E7C8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7A9A1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2A93B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Açık</c:v>
                </c:pt>
                <c:pt idx="1">
                  <c:v>Kapalı veya sisli</c:v>
                </c:pt>
                <c:pt idx="2">
                  <c:v>Yağışlı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771.6</c:v>
                </c:pt>
                <c:pt idx="1">
                  <c:v>758</c:v>
                </c:pt>
                <c:pt idx="2">
                  <c:v>728.7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243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36B78"/>
                    </a:solidFill>
                    <a:latin typeface="Helvetica Neue"/>
                    <a:ea typeface="Helvetica Neue"/>
                    <a:cs typeface="Helvetica Neue"/>
                  </a:rPr>
                  <a:t>Hava durumu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36B78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8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8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8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36B78"/>
                    </a:solidFill>
                    <a:latin typeface="Helvetica Neue"/>
                    <a:ea typeface="Helvetica Neue"/>
                    <a:cs typeface="Helvetica Neue"/>
                  </a:rPr>
                  <a:t>Ortalama kiralama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36B78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Ortalama mutlak hata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FFFFFF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27A9A1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7A9A1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36B7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Doğrusal model</c:v>
                </c:pt>
                <c:pt idx="1">
                  <c:v>Temel yaklaşım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234.3</c:v>
                </c:pt>
                <c:pt idx="1">
                  <c:v>476.8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23A5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5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123A55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D9EAF1"/>
                    </a:solidFill>
                    <a:latin typeface="Helvetica Neue"/>
                    <a:ea typeface="Helvetica Neue"/>
                    <a:cs typeface="Helvetica Neue"/>
                  </a:rPr>
                  <a:t>Kiralama sayısı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D9EAF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0B223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B223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2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418E4-5B37-4BD5-AED1-27F7E78773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fb9e8054144e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5EAAA-79AC-4637-9100-92711749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95250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D5EC6-0491-40D4-95DB-BF8C51FE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57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BASİTLEŞTİRİLMİŞ PYTHON EĞİTİMİ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B2F8F-64CF-4465-A4DC-6B82E584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Şehrin Nabzı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4959F-F536-4086-8494-6AB89F2F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Saatlik bisiklet paylaşım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talebi tahmini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3D324-9AE3-4794-A199-090FDFA7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425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425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425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425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425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425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425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425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425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rPr>
              <a:t>Basitleştirilmiş Python Eğitimi Final Projesi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CFEDE-3491-4FD3-853A-79D70D59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6.662.611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45D63-A3F8-40B9-9BAF-813B0D5A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435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rPr>
              <a:t>yolculuk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82590-B6D1-4F3E-9376-C6940F9B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530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8.760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F3D44-77F3-44FD-9877-CBD2592B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435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rPr>
              <a:t>saat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24DEF-EF35-415F-AB46-33A68427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530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B6D07-19EF-4D2A-AE4E-D5E58E85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435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rPr>
              <a:t>zaman sıralı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C5A69-1FDE-4E01-B6F1-B9ED9506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29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44755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4FA954-FBEF-4C78-8A1A-4F4395DF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95FAA-F1AE-4BEC-981F-C4DC13C7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rPr>
              <a:t>PROBLEM VE VERI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3A1A9-6AE6-4032-8C58-B22819E6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A363F-09A8-4E9F-9FA4-65DA355D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88D16-A9C4-4D76-8E3A-9F7F4767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rPr>
              <a:t>Problem ve veri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8796A-BC72-4C8F-91B0-2613B6E9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 algn="l">
              <a:defRPr sz="12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rPr>
              <a:t>Tahmin sorusu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78CF2-1834-4D88-A717-52093E4E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905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rPr>
              <a:t>Takvim ve hava koşulları kullanılarak Washington D.C. bisiklet paylaşım sisteminin saatlik yolculuk sayısı tahmin edilebilir mi?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0E6A3-0C1D-4870-84D5-698D2F16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384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87D27-B8B0-42F9-BAF0-6104D013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>
            <a:def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rPr>
              <a:t>6.662.611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F3C5F-1445-4A32-9291-33D22CA9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96"/>
          </a:bodyPr>
          <a:lstStyle xmlns:a="http://schemas.openxmlformats.org/drawingml/2006/main">
            <a:def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rPr>
              <a:t>Capital Bikeshare yolculuğu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C845A-D5D4-4EF2-8503-67F9E087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100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>
            <a:def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rPr>
              <a:t>8.760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76BA2-18A5-45DF-A853-94669432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910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>
            <a:def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rPr>
              <a:t>saat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67F515-A38C-41F4-A8C6-B3802D73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100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>
            <a:def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23A55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996BC-8280-4F2A-A919-A94C92A8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910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>
            <a:def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rPr>
              <a:t>eksik değer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B2A3B-4208-4569-AFE9-4AB3E1F2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75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75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75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75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75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75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75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75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75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rPr>
              <a:t>Ocak-Aralık 2025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334BB6-41B8-40F2-967F-F28C94E1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144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 algn="l">
              <a:defRPr sz="975" b="1">
                <a:solidFill>
                  <a:srgbClr val="DB6B4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1">
                <a:solidFill>
                  <a:srgbClr val="DB6B4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1">
                <a:solidFill>
                  <a:srgbClr val="DB6B4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1">
                <a:solidFill>
                  <a:srgbClr val="DB6B4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1">
                <a:solidFill>
                  <a:srgbClr val="DB6B4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1">
                <a:solidFill>
                  <a:srgbClr val="DB6B4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1">
                <a:solidFill>
                  <a:srgbClr val="DB6B4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1">
                <a:solidFill>
                  <a:srgbClr val="DB6B4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1">
                <a:solidFill>
                  <a:srgbClr val="DB6B4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1">
                <a:solidFill>
                  <a:srgbClr val="DB6B4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DB6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B6B4F"/>
                </a:solidFill>
                <a:latin typeface="Helvetica Neue"/>
                <a:ea typeface="Helvetica Neue"/>
                <a:cs typeface="Helvetica Neue"/>
              </a:rPr>
              <a:t>Zirve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BD953-27E1-4805-BA8C-C84585E7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1239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>
            <a:defPPr algn="l">
              <a:defRPr sz="150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0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0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0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0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0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0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0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0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0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rPr>
              <a:t>17.00  /  1.810</a:t>
            </a:r>
          </a:p>
        </p:txBody>
      </p:sp>
      <p:graphicFrame>
        <p:nvGraphicFramePr>
          <p:cNvPr id="18" name="Chart">
            <a:extLst xmlns:a="http://schemas.openxmlformats.org/drawingml/2006/main">
              <a:ext uri="{FF2B5EF4-FFF2-40B4-BE49-F238E27FC236}">
                <a16:creationId xmlns:a16="http://schemas.microsoft.com/office/drawing/2014/main" id="{40D2E75F-869F-4188-816D-093BC8914781}"/>
              </a:ext>
            </a:extLst>
          </p:cNvPr>
          <p:cNvGraphicFramePr/>
          <p:nvPr/>
        </p:nvGraphicFramePr>
        <p:xfrm>
          <a:off xmlns:a="http://schemas.openxmlformats.org/drawingml/2006/main" x="4953000" y="1828800"/>
          <a:ext xmlns:a="http://schemas.openxmlformats.org/drawingml/2006/main" cx="6477000" cy="3981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c9d4c33add4318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85B8A1-C416-4A56-AB7A-8E7A94F5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rPr>
              <a:t>Kaynak  Capital Bikeshare System Data ve Open-Meteo  2025</a:t>
            </a:r>
          </a:p>
        </p:txBody>
      </p:sp>
    </p:spTree>
    <p:extLst>
      <p:ext uri="{BB962C8B-B14F-4D97-AF65-F5344CB8AC3E}">
        <p14:creationId xmlns:p14="http://schemas.microsoft.com/office/powerpoint/2010/main" val="13628527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7BA9B-B3DC-46F2-8F74-B334940E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C9DF3-2DDE-4F6E-8786-7A24BE1E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rPr>
              <a:t>KEŞIF BULGULARI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01AC7-2D2F-4F2B-966F-5478D9A2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9D777-23EB-4461-B2F5-D35126E1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C97FC-9504-45A3-8317-47DA5D24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rPr>
              <a:t>Keşif bulguları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BBF764D-A992-42DA-A071-1F190FEC6D15}"/>
              </a:ext>
            </a:extLst>
          </p:cNvPr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5905500" cy="4114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e6f0d4a19a49c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1F6D6-EF44-4E2A-B99B-98A9001F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19250"/>
            <a:ext cx="381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1D7A9-CBC9-44D7-BB34-49DA6367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192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C88B9-910C-4A50-94B7-39ABD8F5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19250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rPr>
              <a:t>Talep saat 17.00'de ortalama 1.810 yolculukla zirveye çıkıyor.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EC97E-E573-4A2C-B0DF-2AB63CFE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146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04F669-D86E-438D-B2BB-69298588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14600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rPr>
              <a:t>Haziran ayı saatlik ortalaması 960 ile yılın en yüksek düzeyinde.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88EF1F-6BA7-40E9-A79B-EEC0156B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09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2C60B-0F0D-4BCC-B531-60A07F34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09950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rPr>
              <a:t>Sıcaklık ile talep arasında 0,478 düzeyinde pozitif ilişki var.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64A10-13F6-448C-BCBE-F871C1CA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05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5D01A2-19EC-4368-AD25-BC4ACC92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05300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rPr>
              <a:t>Nem ile talep arasındaki ilişki -0,426.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3B4D9-40D2-4DAF-A7DD-34117807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rPr>
              <a:t>İlişkiler nedensellik kanıtı değildir</a:t>
            </a:r>
          </a:p>
        </p:txBody>
      </p:sp>
    </p:spTree>
    <p:extLst>
      <p:ext uri="{BB962C8B-B14F-4D97-AF65-F5344CB8AC3E}">
        <p14:creationId xmlns:p14="http://schemas.microsoft.com/office/powerpoint/2010/main" val="14299045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22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89AA78-824F-41BD-90C7-91754917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20FFD-F2F8-410F-9CB7-3B067CEA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MODEL VE SONUÇLAR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D4858-92E5-4084-86FA-183C0260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96900-8EE2-4AE1-AB79-109B6438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A1EE3-A186-45F4-89C5-88A64B36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Model ve sonuçlar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AF3D9C2-EF12-4DBA-A702-AC7FFC5511AF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5753100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abc7c36d714a9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62AAC-5D6B-4D64-8BD0-27BC60BA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917"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0,578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934C1-211C-4E41-BB8C-272AE2A2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28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l">
              <a:defRPr sz="120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rPr>
              <a:t>Test R²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C18BA-AC17-49F6-BE2E-CAC6397A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1925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917"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315,2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41DEA-7A65-45EF-B558-D346E04B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28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l">
              <a:defRPr sz="120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rPr>
              <a:t>Test RMSE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23A50-AA75-48AB-969B-2043ED15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384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60EED-CD4D-47A5-89A5-D0D285A1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242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2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2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2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2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2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2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2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2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2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%50,9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9D321-1E10-4119-92E7-E6840F03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480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985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temel yaklaşıma göre daha düşük MAE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98A23E-79F7-4F0D-806A-61066667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57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7A9A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00" b="1">
                <a:solidFill>
                  <a:srgbClr val="27A9A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00" b="1">
                <a:solidFill>
                  <a:srgbClr val="27A9A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00" b="1">
                <a:solidFill>
                  <a:srgbClr val="27A9A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00" b="1">
                <a:solidFill>
                  <a:srgbClr val="27A9A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00" b="1">
                <a:solidFill>
                  <a:srgbClr val="27A9A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00" b="1">
                <a:solidFill>
                  <a:srgbClr val="27A9A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00" b="1">
                <a:solidFill>
                  <a:srgbClr val="27A9A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00" b="1">
                <a:solidFill>
                  <a:srgbClr val="27A9A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00" b="1">
                <a:solidFill>
                  <a:srgbClr val="27A9A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7A9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7A9A1"/>
                </a:solidFill>
                <a:latin typeface="Helvetica Neue"/>
                <a:ea typeface="Helvetica Neue"/>
                <a:cs typeface="Helvetica Neue"/>
              </a:rPr>
              <a:t>Model akışı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879D2-0523-4AB6-9713-E42D182C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95800"/>
            <a:ext cx="4095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Kategorik alanlar one hot encoding ile dönüştürüldü. Linear Regression ilk 7.008 saatle eğitildi ve son 1.752 saatle test edildi. Temel yaklaşıma göre MAE yüzde 50,9 azaldı.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A74884-E09A-4B0D-81E4-95291372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 algn="l">
              <a:defRPr sz="7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D9EAF1"/>
                </a:solidFill>
                <a:latin typeface="Helvetica Neue"/>
                <a:ea typeface="Helvetica Neue"/>
                <a:cs typeface="Helvetica Neue"/>
              </a:rPr>
              <a:t>Temel yaklaşım yalnızca eğitim ortalamasını tahmin eder</a:t>
            </a:r>
          </a:p>
        </p:txBody>
      </p:sp>
    </p:spTree>
    <p:extLst>
      <p:ext uri="{BB962C8B-B14F-4D97-AF65-F5344CB8AC3E}">
        <p14:creationId xmlns:p14="http://schemas.microsoft.com/office/powerpoint/2010/main" val="9226348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DCC41B-3A86-4B5A-B37F-BFB8E204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DEBC8-830A-4E7B-9945-6750C3D2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B78"/>
                </a:solidFill>
                <a:latin typeface="Helvetica Neue"/>
                <a:ea typeface="Helvetica Neue"/>
                <a:cs typeface="Helvetica Neue"/>
              </a:rPr>
              <a:t>TAHMIN ÖRNEKLERI VE SINIRLAR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C6E7C-DAD2-4383-A8C3-C959BF67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310A3-3D18-4B20-8AA3-9FCDD922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0497C-641B-4115-83EC-2C3FAB34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2431"/>
                </a:solidFill>
                <a:latin typeface="Helvetica Neue"/>
                <a:ea typeface="Helvetica Neue"/>
                <a:cs typeface="Helvetica Neue"/>
              </a:rPr>
              <a:t>Tahmin örnekleri ve sınırlar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01A38-DEC4-4529-A4F1-0D45C9CE2DBC}"/>
              </a:ext>
            </a:extLst>
          </p:cNvPr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5905500" cy="3067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14800"/>
                <a:gridCol w="1790700"/>
              </a:tblGrid>
              <a:tr h="766763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Senaryo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8EA"/>
                      </a:solidFill>
                      <a:prstDash val="solid"/>
                    </a:lnL>
                    <a:lnR w="9525">
                      <a:solidFill>
                        <a:srgbClr val="DDE8EA"/>
                      </a:solidFill>
                      <a:prstDash val="solid"/>
                    </a:lnR>
                    <a:lnT w="9525">
                      <a:solidFill>
                        <a:srgbClr val="DDE8EA"/>
                      </a:solidFill>
                      <a:prstDash val="solid"/>
                    </a:lnT>
                    <a:lnB w="9525">
                      <a:solidFill>
                        <a:srgbClr val="DDE8EA"/>
                      </a:solidFill>
                      <a:prstDash val="solid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Tahmin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8EA"/>
                      </a:solidFill>
                      <a:prstDash val="solid"/>
                    </a:lnR>
                    <a:lnT w="9525">
                      <a:solidFill>
                        <a:srgbClr val="DDE8EA"/>
                      </a:solidFill>
                      <a:prstDash val="solid"/>
                    </a:lnT>
                    <a:lnB w="9525">
                      <a:solidFill>
                        <a:srgbClr val="DDE8EA"/>
                      </a:solidFill>
                      <a:prstDash val="solid"/>
                    </a:lnB>
                    <a:solidFill>
                      <a:srgbClr val="0B2239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024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Serin iş günü sabahı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8EA"/>
                      </a:solidFill>
                      <a:prstDash val="solid"/>
                    </a:lnL>
                    <a:lnR w="9525">
                      <a:solidFill>
                        <a:srgbClr val="DDE8EA"/>
                      </a:solidFill>
                      <a:prstDash val="solid"/>
                    </a:lnR>
                    <a:lnB w="9525">
                      <a:solidFill>
                        <a:srgbClr val="DDE8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123A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1.413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8EA"/>
                      </a:solidFill>
                      <a:prstDash val="solid"/>
                    </a:lnR>
                    <a:lnB w="9525">
                      <a:solidFill>
                        <a:srgbClr val="DDE8EA"/>
                      </a:solidFill>
                      <a:prstDash val="solid"/>
                    </a:lnB>
                    <a:solidFill>
                      <a:srgbClr val="E8F4F3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024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Sıcak hafta sonu öğleden sonrası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8EA"/>
                      </a:solidFill>
                      <a:prstDash val="solid"/>
                    </a:lnL>
                    <a:lnR w="9525">
                      <a:solidFill>
                        <a:srgbClr val="DDE8EA"/>
                      </a:solidFill>
                      <a:prstDash val="solid"/>
                    </a:lnR>
                    <a:lnB w="9525">
                      <a:solidFill>
                        <a:srgbClr val="DDE8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123A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1.858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8EA"/>
                      </a:solidFill>
                      <a:prstDash val="solid"/>
                    </a:lnR>
                    <a:lnB w="9525">
                      <a:solidFill>
                        <a:srgbClr val="DDE8EA"/>
                      </a:solidFill>
                      <a:prstDash val="solid"/>
                    </a:lnB>
                    <a:solidFill>
                      <a:srgbClr val="E8F4F3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024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Yağışlı kış gecesi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8EA"/>
                      </a:solidFill>
                      <a:prstDash val="solid"/>
                    </a:lnL>
                    <a:lnR w="9525">
                      <a:solidFill>
                        <a:srgbClr val="DDE8EA"/>
                      </a:solidFill>
                      <a:prstDash val="solid"/>
                    </a:lnR>
                    <a:lnB w="9525">
                      <a:solidFill>
                        <a:srgbClr val="DDE8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123A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8EA"/>
                      </a:solidFill>
                      <a:prstDash val="solid"/>
                    </a:lnR>
                    <a:lnB w="9525">
                      <a:solidFill>
                        <a:srgbClr val="DDE8EA"/>
                      </a:solidFill>
                      <a:prstDash val="solid"/>
                    </a:lnB>
                    <a:solidFill>
                      <a:srgbClr val="E8F4F3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0D510-6FC1-470D-A8E7-1BE52218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002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8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E7C86"/>
                </a:solidFill>
                <a:latin typeface="Helvetica Neue"/>
                <a:ea typeface="Helvetica Neue"/>
                <a:cs typeface="Helvetica Neue"/>
              </a:rPr>
              <a:t>Model sınırları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2C9D9-117E-4660-AC14-17428C1D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38350"/>
            <a:ext cx="354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26195-7E14-4AB0-8D30-77B0F358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479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68873-D67B-4B04-8487-B7E13DA5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47900"/>
            <a:ext cx="354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rPr>
              <a:t>İstasyon konumu ve kapasitesi bilinmiyor.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1C3A0-C1F1-40DA-9FC2-AD0B83C1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575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52A62C-4CE2-4D89-98D1-AE37C102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rPr>
              <a:t>Özel etkinlik ve ulaşım kesintisi verisi yok.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6AE72-7025-4C4C-9B80-6AEF9E09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861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B2A54-7449-4A38-8F95-D87D9A96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861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rPr>
              <a:t>Veri tek şehir sistemi ve 2025 dönemiyle sınırlı.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0B42F-6D01-407A-B63C-69B744AD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148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B62C1-DAF8-41FD-A4E0-7EE3F69D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14800"/>
            <a:ext cx="354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431"/>
                </a:solidFill>
                <a:latin typeface="Helvetica Neue"/>
                <a:ea typeface="Helvetica Neue"/>
                <a:cs typeface="Helvetica Neue"/>
              </a:rPr>
              <a:t>Negatif ham tahminler mini uygulamada sıfıra kırpılıyor.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54E636-0CE2-4296-8314-70A696D8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19700"/>
            <a:ext cx="1219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D7E49-C070-49D5-8CE8-C052AC2F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Sonuç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4445D8-F717-4092-8868-3869D6B4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911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1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Model talep planlaması için başlangıç sinyali veriyor. Farklı şehirlerde yeniden ölçülmeli.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56362A-81A1-4132-BA72-3CA029E1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36B78"/>
                </a:solidFill>
                <a:latin typeface="Helvetica Neue"/>
                <a:ea typeface="Helvetica Neue"/>
                <a:cs typeface="Helvetica Neue"/>
              </a:rPr>
              <a:t>Mini uygulama tahmin_et işleviyle kullanıcı girdisinden sonuç üretir</a:t>
            </a:r>
          </a:p>
        </p:txBody>
      </p:sp>
    </p:spTree>
    <p:extLst>
      <p:ext uri="{BB962C8B-B14F-4D97-AF65-F5344CB8AC3E}">
        <p14:creationId xmlns:p14="http://schemas.microsoft.com/office/powerpoint/2010/main" val="960487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2026-10-17T22:06:29.4310000Z</dcterms:created>
  <dcterms:modified xsi:type="dcterms:W3CDTF">2026-10-17T22:06:29.4310000Z</dcterms:modified>
</coreProperties>
</file>